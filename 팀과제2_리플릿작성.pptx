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84" r:id="rId2"/>
    <p:sldId id="285" r:id="rId3"/>
    <p:sldId id="312" r:id="rId4"/>
    <p:sldId id="309" r:id="rId5"/>
    <p:sldId id="311" r:id="rId6"/>
    <p:sldId id="310" r:id="rId7"/>
    <p:sldId id="313" r:id="rId8"/>
    <p:sldId id="308" r:id="rId9"/>
    <p:sldId id="290" r:id="rId10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5f0371fd65f2d67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84" autoAdjust="0"/>
    <p:restoredTop sz="94687" autoAdjust="0"/>
  </p:normalViewPr>
  <p:slideViewPr>
    <p:cSldViewPr>
      <p:cViewPr varScale="1">
        <p:scale>
          <a:sx n="102" d="100"/>
          <a:sy n="102" d="100"/>
        </p:scale>
        <p:origin x="7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6400" cy="4969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9" y="2"/>
            <a:ext cx="2946400" cy="49696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5C53-DA3E-487E-B598-B2BC055B3E50}" type="datetimeFigureOut">
              <a:rPr lang="ko-KR" altLang="en-US" smtClean="0"/>
              <a:pPr/>
              <a:t>2019-04-08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672"/>
            <a:ext cx="2946400" cy="4969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KMMS 2015 </a:t>
            </a:r>
            <a:r>
              <a:rPr lang="ko-KR" altLang="en-US"/>
              <a:t>춘계학술대회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9" y="9429672"/>
            <a:ext cx="2946400" cy="49696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A06292-56EF-458C-B518-F4124BA67BF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76226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F0F0B-A58F-41EC-B1EB-99587953349B}" type="datetimeFigureOut">
              <a:rPr lang="ko-KR" altLang="en-US" smtClean="0"/>
              <a:pPr/>
              <a:t>2019-04-08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8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ko-KR"/>
              <a:t>KMMS 2015 </a:t>
            </a:r>
            <a:r>
              <a:rPr lang="ko-KR" altLang="en-US"/>
              <a:t>춘계학술대회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88D60-6F7F-46C6-A60B-DE8D841ADFA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6919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093F3D8-61CD-4F72-A842-B5A63C11921C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KMMS 2015 </a:t>
            </a:r>
            <a:r>
              <a:rPr lang="ko-KR" altLang="en-US"/>
              <a:t>춘계학술대회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C88D60-6F7F-46C6-A60B-DE8D841ADFAA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KMMS 2015 </a:t>
            </a:r>
            <a:r>
              <a:rPr lang="ko-KR" altLang="en-US"/>
              <a:t>춘계학술대회</a:t>
            </a:r>
          </a:p>
        </p:txBody>
      </p:sp>
    </p:spTree>
    <p:extLst>
      <p:ext uri="{BB962C8B-B14F-4D97-AF65-F5344CB8AC3E}">
        <p14:creationId xmlns:p14="http://schemas.microsoft.com/office/powerpoint/2010/main" val="1805907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C88D60-6F7F-46C6-A60B-DE8D841ADFAA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KMMS 2015 </a:t>
            </a:r>
            <a:r>
              <a:rPr lang="ko-KR" altLang="en-US"/>
              <a:t>춘계학술대회</a:t>
            </a:r>
          </a:p>
        </p:txBody>
      </p:sp>
    </p:spTree>
    <p:extLst>
      <p:ext uri="{BB962C8B-B14F-4D97-AF65-F5344CB8AC3E}">
        <p14:creationId xmlns:p14="http://schemas.microsoft.com/office/powerpoint/2010/main" val="347349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ko-KR"/>
              <a:t>KMMS 2015 </a:t>
            </a:r>
            <a:r>
              <a:rPr lang="ko-KR" altLang="en-US"/>
              <a:t>춘계학술대회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C88D60-6F7F-46C6-A60B-DE8D841ADFAA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553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17"/>
          <p:cNvGraphicFramePr>
            <a:graphicFrameLocks noChangeAspect="1"/>
          </p:cNvGraphicFramePr>
          <p:nvPr/>
        </p:nvGraphicFramePr>
        <p:xfrm>
          <a:off x="4252913" y="0"/>
          <a:ext cx="4891087" cy="443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" name="Image" r:id="rId3" imgW="8228571" imgH="8711111" progId="">
                  <p:embed/>
                </p:oleObj>
              </mc:Choice>
              <mc:Fallback>
                <p:oleObj name="Image" r:id="rId3" imgW="8228571" imgH="8711111" progId="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2913" y="0"/>
                        <a:ext cx="4891087" cy="443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7FA3CF">
                                    <a:alpha val="39998"/>
                                  </a:srgbClr>
                                </a:gs>
                                <a:gs pos="100000">
                                  <a:schemeClr val="accent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18" descr="Light horizontal"/>
          <p:cNvSpPr>
            <a:spLocks noChangeArrowheads="1"/>
          </p:cNvSpPr>
          <p:nvPr/>
        </p:nvSpPr>
        <p:spPr bwMode="gray">
          <a:xfrm>
            <a:off x="0" y="9525"/>
            <a:ext cx="1476375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ltGray">
          <a:xfrm flipV="1">
            <a:off x="0" y="4267200"/>
            <a:ext cx="9144000" cy="11064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7" name="AutoShape 21"/>
          <p:cNvSpPr>
            <a:spLocks noChangeArrowheads="1"/>
          </p:cNvSpPr>
          <p:nvPr/>
        </p:nvSpPr>
        <p:spPr bwMode="ltGray">
          <a:xfrm>
            <a:off x="1474788" y="5156200"/>
            <a:ext cx="7129462" cy="504825"/>
          </a:xfrm>
          <a:prstGeom prst="roundRect">
            <a:avLst>
              <a:gd name="adj" fmla="val 16667"/>
            </a:avLst>
          </a:prstGeom>
          <a:solidFill>
            <a:schemeClr val="tx2">
              <a:lumMod val="75000"/>
            </a:schemeClr>
          </a:solidFill>
          <a:ln w="38100" algn="ctr">
            <a:solidFill>
              <a:schemeClr val="bg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ko-KR" altLang="en-US">
              <a:solidFill>
                <a:prstClr val="black"/>
              </a:solidFill>
              <a:ea typeface="굴림" charset="-127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1447800" y="3548063"/>
            <a:ext cx="7239000" cy="1371600"/>
          </a:xfrm>
        </p:spPr>
        <p:txBody>
          <a:bodyPr/>
          <a:lstStyle>
            <a:lvl1pPr algn="l"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614488" y="5224463"/>
            <a:ext cx="68580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2440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C:\Documents and Settings\jshan\바탕 화면\123.bmp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913" y="0"/>
            <a:ext cx="108108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500034" y="1071546"/>
            <a:ext cx="8429684" cy="5054619"/>
          </a:xfrm>
        </p:spPr>
        <p:txBody>
          <a:bodyPr/>
          <a:lstStyle>
            <a:lvl1pPr>
              <a:buClr>
                <a:srgbClr val="FF0000"/>
              </a:buClr>
              <a:buFont typeface="Wingdings" pitchFamily="2" charset="2"/>
              <a:buChar char="l"/>
              <a:defRPr sz="2400"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rgbClr val="000000"/>
              </a:buClr>
              <a:defRPr sz="2400"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rgbClr val="000000"/>
              </a:buClr>
              <a:defRPr sz="2000">
                <a:latin typeface="맑은 고딕" pitchFamily="50" charset="-127"/>
                <a:ea typeface="맑은 고딕" pitchFamily="50" charset="-127"/>
              </a:defRPr>
            </a:lvl3pPr>
            <a:lvl4pPr>
              <a:buClr>
                <a:srgbClr val="000000"/>
              </a:buClr>
              <a:defRPr sz="1800">
                <a:latin typeface="맑은 고딕" pitchFamily="50" charset="-127"/>
                <a:ea typeface="맑은 고딕" pitchFamily="50" charset="-127"/>
              </a:defRPr>
            </a:lvl4pPr>
            <a:lvl5pPr>
              <a:buClr>
                <a:srgbClr val="000000"/>
              </a:buClr>
              <a:defRPr sz="1600">
                <a:latin typeface="맑은 고딕" pitchFamily="50" charset="-127"/>
                <a:ea typeface="맑은 고딕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</a:rPr>
              <a:t>멀티미디어학회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A00BD-A580-4DDF-90C5-B8466B807C9F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443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</a:rPr>
              <a:t>멀티미디어학회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5EF2BF-6D9A-44F7-9E41-7BBBE450C27F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252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</a:rPr>
              <a:t>멀티미디어학회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B6AA8-1B06-464F-BEBD-5641B54DB6A8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878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</a:rPr>
              <a:t>멀티미디어학회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69E0DF-7B91-4557-8621-862EDC3850C3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80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>
                <a:solidFill>
                  <a:prstClr val="black"/>
                </a:solidFill>
              </a:rPr>
              <a:t>멀티미디어학회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927EFE-D4EE-42C8-A138-E73859739B55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68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B592A-C43B-407A-9F53-95392A7DEB16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r>
              <a:rPr lang="en-US" altLang="ko-KR" dirty="0">
                <a:solidFill>
                  <a:prstClr val="black"/>
                </a:solidFill>
              </a:rPr>
              <a:t>/28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31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4A8A32-E109-4302-8182-3EDFEB39BD9B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6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C4307-1728-4E72-9399-85F48A97E247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D77D8-0CA3-4336-A9A3-EE59E6A1ECED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81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14E23C-6712-4C3F-97C4-069274648E7D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4381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22A3B-C1C6-4C26-97B6-1E60A570F1CC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387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7688" y="319088"/>
            <a:ext cx="7162800" cy="56356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ko-KR" altLang="en-US" noProof="0"/>
              <a:t>표를 추가하려면 아이콘을 클릭하십시오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262EF-F31E-44BC-BAB8-72C0769448F0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303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C:\Documents and Settings\jshan\바탕 화면\123.bmp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913" y="0"/>
            <a:ext cx="1081087" cy="544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500034" y="1071546"/>
            <a:ext cx="8429684" cy="5054619"/>
          </a:xfrm>
        </p:spPr>
        <p:txBody>
          <a:bodyPr/>
          <a:lstStyle>
            <a:lvl1pPr>
              <a:buClr>
                <a:srgbClr val="FF0000"/>
              </a:buClr>
              <a:buFont typeface="Wingdings" pitchFamily="2" charset="2"/>
              <a:buChar char="l"/>
              <a:defRPr sz="2200">
                <a:latin typeface="맑은 고딕" pitchFamily="50" charset="-127"/>
                <a:ea typeface="맑은 고딕" pitchFamily="50" charset="-127"/>
              </a:defRPr>
            </a:lvl1pPr>
            <a:lvl2pPr>
              <a:buClr>
                <a:srgbClr val="000000"/>
              </a:buClr>
              <a:defRPr sz="2000">
                <a:latin typeface="맑은 고딕" pitchFamily="50" charset="-127"/>
                <a:ea typeface="맑은 고딕" pitchFamily="50" charset="-127"/>
              </a:defRPr>
            </a:lvl2pPr>
            <a:lvl3pPr>
              <a:buClr>
                <a:srgbClr val="000000"/>
              </a:buClr>
              <a:defRPr sz="2000">
                <a:latin typeface="맑은 고딕" pitchFamily="50" charset="-127"/>
                <a:ea typeface="맑은 고딕" pitchFamily="50" charset="-127"/>
              </a:defRPr>
            </a:lvl3pPr>
            <a:lvl4pPr>
              <a:buClr>
                <a:srgbClr val="000000"/>
              </a:buClr>
              <a:defRPr sz="2000">
                <a:latin typeface="맑은 고딕" pitchFamily="50" charset="-127"/>
                <a:ea typeface="맑은 고딕" pitchFamily="50" charset="-127"/>
              </a:defRPr>
            </a:lvl4pPr>
            <a:lvl5pPr>
              <a:buClr>
                <a:srgbClr val="000000"/>
              </a:buClr>
              <a:defRPr sz="2000">
                <a:latin typeface="맑은 고딕" pitchFamily="50" charset="-127"/>
                <a:ea typeface="맑은 고딕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824256-22C7-42D3-B9AD-F038BA2DBF3A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528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 descr="Light horizontal"/>
          <p:cNvSpPr>
            <a:spLocks noChangeArrowheads="1"/>
          </p:cNvSpPr>
          <p:nvPr/>
        </p:nvSpPr>
        <p:spPr bwMode="gray">
          <a:xfrm>
            <a:off x="0" y="0"/>
            <a:ext cx="468313" cy="6858000"/>
          </a:xfrm>
          <a:prstGeom prst="rect">
            <a:avLst/>
          </a:prstGeom>
          <a:pattFill prst="ltHorz">
            <a:fgClr>
              <a:schemeClr val="bg2"/>
            </a:fgClr>
            <a:bgClr>
              <a:srgbClr val="FFFFFF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1027" name="Rectangle 16"/>
          <p:cNvSpPr>
            <a:spLocks noChangeArrowheads="1"/>
          </p:cNvSpPr>
          <p:nvPr/>
        </p:nvSpPr>
        <p:spPr bwMode="invGray">
          <a:xfrm>
            <a:off x="0" y="-26988"/>
            <a:ext cx="9144000" cy="692151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1028" name="Line 17"/>
          <p:cNvSpPr>
            <a:spLocks noChangeShapeType="1"/>
          </p:cNvSpPr>
          <p:nvPr/>
        </p:nvSpPr>
        <p:spPr bwMode="gray">
          <a:xfrm>
            <a:off x="468313" y="6410325"/>
            <a:ext cx="8424862" cy="0"/>
          </a:xfrm>
          <a:prstGeom prst="line">
            <a:avLst/>
          </a:prstGeom>
          <a:noFill/>
          <a:ln w="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>
              <a:solidFill>
                <a:prstClr val="black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29" name="AutoShape 18"/>
          <p:cNvSpPr>
            <a:spLocks noChangeArrowheads="1"/>
          </p:cNvSpPr>
          <p:nvPr/>
        </p:nvSpPr>
        <p:spPr bwMode="blackWhite">
          <a:xfrm>
            <a:off x="468313" y="233363"/>
            <a:ext cx="7488237" cy="720725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38100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ko-KR" altLang="en-US">
              <a:solidFill>
                <a:prstClr val="black"/>
              </a:solidFill>
              <a:ea typeface="굴림" pitchFamily="50" charset="-127"/>
            </a:endParaRP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altLang="ko-KR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667000" cy="25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kumimoji="0" sz="1000" b="1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43600" y="64008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000" b="1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KMMS 2015 </a:t>
            </a:r>
            <a:r>
              <a:rPr lang="ko-KR" altLang="en-US">
                <a:solidFill>
                  <a:prstClr val="black"/>
                </a:solidFill>
              </a:rPr>
              <a:t>춘계학술대회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57600" y="6386513"/>
            <a:ext cx="2133600" cy="211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000" b="1"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fld id="{B5D74D22-DE68-4AD9-83F3-5B36B26FA051}" type="slidenum">
              <a:rPr lang="ko-KR" altLang="en-US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34" name="Rectangle 2"/>
          <p:cNvSpPr>
            <a:spLocks noGrp="1" noChangeArrowheads="1"/>
          </p:cNvSpPr>
          <p:nvPr>
            <p:ph type="title"/>
          </p:nvPr>
        </p:nvSpPr>
        <p:spPr bwMode="black">
          <a:xfrm>
            <a:off x="547688" y="319088"/>
            <a:ext cx="71628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497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Arial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/>
          <p:cNvSpPr>
            <a:spLocks noGrp="1"/>
          </p:cNvSpPr>
          <p:nvPr>
            <p:ph type="ctrTitle"/>
          </p:nvPr>
        </p:nvSpPr>
        <p:spPr>
          <a:xfrm>
            <a:off x="288131" y="548680"/>
            <a:ext cx="8567737" cy="1800225"/>
          </a:xfrm>
        </p:spPr>
        <p:txBody>
          <a:bodyPr/>
          <a:lstStyle/>
          <a:p>
            <a:pPr algn="ctr"/>
            <a:br>
              <a:rPr lang="en-US" altLang="ko-KR" sz="3200" dirty="0">
                <a:solidFill>
                  <a:schemeClr val="accent1">
                    <a:lumMod val="75000"/>
                  </a:scheme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3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산간지방 침수지역 시뮬레이션</a:t>
            </a:r>
            <a:br>
              <a:rPr lang="ko-KR" altLang="en-US" dirty="0">
                <a:solidFill>
                  <a:schemeClr val="accent1">
                    <a:lumMod val="75000"/>
                  </a:schemeClr>
                </a:solidFill>
              </a:rPr>
            </a:br>
            <a:endParaRPr lang="ko-KR" altLang="en-US" sz="3200" dirty="0">
              <a:solidFill>
                <a:schemeClr val="accent1">
                  <a:lumMod val="75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172" name="Picture 1095" descr="시그니쳐(좌우조합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5876925"/>
            <a:ext cx="2714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altLang="ko-KR" sz="20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2019</a:t>
            </a:r>
            <a:r>
              <a:rPr lang="ko-KR" altLang="en-US" sz="20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년 </a:t>
            </a:r>
            <a:r>
              <a:rPr lang="en-US" altLang="ko-KR" sz="20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sz="20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월 </a:t>
            </a:r>
            <a:r>
              <a:rPr lang="en-US" altLang="ko-KR" sz="20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14</a:t>
            </a:r>
            <a:r>
              <a:rPr lang="ko-KR" altLang="en-US" sz="20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rPr>
              <a:t>일  </a:t>
            </a:r>
          </a:p>
          <a:p>
            <a:pPr algn="ctr"/>
            <a:endParaRPr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403350" y="4293096"/>
            <a:ext cx="731202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2200" b="1" dirty="0" err="1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우동헌</a:t>
            </a:r>
            <a:r>
              <a:rPr lang="ko-KR" altLang="en-US" sz="2200" b="1" dirty="0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2200" b="1" dirty="0" err="1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도현승</a:t>
            </a:r>
            <a:r>
              <a:rPr lang="ko-KR" altLang="en-US" sz="2200" b="1" dirty="0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2200" b="1" dirty="0" err="1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손상길</a:t>
            </a:r>
            <a:r>
              <a:rPr lang="ko-KR" altLang="en-US" sz="2200" b="1" dirty="0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2200" b="1" dirty="0" err="1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심재창</a:t>
            </a:r>
            <a:r>
              <a:rPr lang="ko-KR" altLang="en-US" sz="2200" b="1" dirty="0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 </a:t>
            </a:r>
            <a:r>
              <a:rPr lang="ko-KR" altLang="en-US" sz="2200" b="1" dirty="0" err="1">
                <a:solidFill>
                  <a:srgbClr val="FFFFFF"/>
                </a:solidFill>
                <a:latin typeface="굴림" pitchFamily="50" charset="-127"/>
                <a:ea typeface="굴림" pitchFamily="50" charset="-127"/>
              </a:rPr>
              <a:t>안동대</a:t>
            </a:r>
            <a:endParaRPr lang="ko-KR" altLang="en-US" sz="2200" b="1" dirty="0">
              <a:solidFill>
                <a:srgbClr val="FFFFFF"/>
              </a:solidFill>
              <a:latin typeface="굴림" pitchFamily="50" charset="-127"/>
              <a:ea typeface="굴림" pitchFamily="50" charset="-127"/>
            </a:endParaRPr>
          </a:p>
        </p:txBody>
      </p:sp>
      <p:grpSp>
        <p:nvGrpSpPr>
          <p:cNvPr id="12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13" name="_x76256848" descr="EMB000005d82b6c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953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67544" y="1124744"/>
            <a:ext cx="8136904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많은 분야에서 안전이 강조되고 그에 따라 예방 시뮬레이터가 필요</a:t>
            </a: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산간지방 침수지역 시뮬레이션 구현을 위해 </a:t>
            </a:r>
            <a:r>
              <a:rPr lang="en-US" altLang="ko-KR" b="1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D.Shiffman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교수의 </a:t>
            </a:r>
            <a:r>
              <a:rPr lang="ko-KR" altLang="en-US" b="1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펄린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노이즈 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차원 지형 생성을 참고하고 팀에서 자체적으로 제작한 강수 프로그램을 결합함</a:t>
            </a: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lv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/>
            </a:pPr>
            <a:endParaRPr lang="en-US" altLang="ko-KR" sz="1900" dirty="0">
              <a:latin typeface="맑은 고딕" pitchFamily="50" charset="-127"/>
              <a:ea typeface="맑은 고딕" pitchFamily="50" charset="-127"/>
            </a:endParaRP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/>
              <a:buChar char="q"/>
              <a:defRPr/>
            </a:pPr>
            <a:endParaRPr lang="en-US" altLang="ko-KR" sz="1900" b="1" kern="0" dirty="0">
              <a:solidFill>
                <a:srgbClr val="0066F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/>
              <a:buChar char="q"/>
              <a:defRPr/>
            </a:pPr>
            <a:endParaRPr lang="en-US" altLang="ko-KR" sz="1900" b="1" kern="0" dirty="0">
              <a:solidFill>
                <a:srgbClr val="0066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9" name="_x76256848" descr="EMB000005d82b6c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90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395536" y="1052736"/>
            <a:ext cx="7879084" cy="1684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비를 내리는 강수 프로그램과 무작위 지형생성 프로그램으로 구성</a:t>
            </a: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P5.js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라이브러리를 통해 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.HTML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로 제작된 웹에 올릴 수 있음</a:t>
            </a: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0" lvl="1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defRPr/>
            </a:pPr>
            <a:endParaRPr lang="en-US" altLang="ko-KR" sz="1760" b="1" kern="0" dirty="0">
              <a:solidFill>
                <a:srgbClr val="0066F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endParaRPr lang="en-US" altLang="ko-KR" sz="1760" b="1" kern="0" dirty="0">
              <a:solidFill>
                <a:srgbClr val="0066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1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산간지방 침수지역 시뮬레이션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1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12" name="_x76256848" descr="EMB000005d82b6c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223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23528" y="319088"/>
            <a:ext cx="7632848" cy="563562"/>
          </a:xfrm>
        </p:spPr>
        <p:txBody>
          <a:bodyPr/>
          <a:lstStyle/>
          <a:p>
            <a:r>
              <a:rPr lang="ko-KR" altLang="en-US" sz="2800" dirty="0"/>
              <a:t>산간지방 침수지역 시뮬레이션의 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0034" y="1071546"/>
            <a:ext cx="8248430" cy="5054619"/>
          </a:xfrm>
        </p:spPr>
        <p:txBody>
          <a:bodyPr/>
          <a:lstStyle/>
          <a:p>
            <a:pPr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600" dirty="0" err="1">
                <a:solidFill>
                  <a:schemeClr val="tx2"/>
                </a:solidFill>
              </a:rPr>
              <a:t>펄린</a:t>
            </a:r>
            <a:r>
              <a:rPr lang="ko-KR" altLang="en-US" sz="1600" dirty="0">
                <a:solidFill>
                  <a:schemeClr val="tx2"/>
                </a:solidFill>
              </a:rPr>
              <a:t> 노이즈 기법을 사용해 보다 사실같은 산간지형 생성</a:t>
            </a:r>
            <a:r>
              <a:rPr lang="en-US" altLang="ko-KR" sz="1600" dirty="0">
                <a:solidFill>
                  <a:schemeClr val="tx2"/>
                </a:solidFill>
              </a:rPr>
              <a:t>.</a:t>
            </a: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600" dirty="0">
                <a:solidFill>
                  <a:schemeClr val="tx2"/>
                </a:solidFill>
              </a:rPr>
              <a:t>버튼을 통해 시스템 제어</a:t>
            </a: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600" dirty="0">
                <a:solidFill>
                  <a:schemeClr val="tx2"/>
                </a:solidFill>
              </a:rPr>
              <a:t>버튼을 통해 강수량 조절</a:t>
            </a: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600" dirty="0">
                <a:solidFill>
                  <a:schemeClr val="tx2"/>
                </a:solidFill>
              </a:rPr>
              <a:t>시점 변경</a:t>
            </a: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600" dirty="0">
                <a:solidFill>
                  <a:schemeClr val="tx2"/>
                </a:solidFill>
              </a:rPr>
              <a:t>시스템의 현재 </a:t>
            </a:r>
            <a:r>
              <a:rPr lang="ko-KR" altLang="en-US" sz="1600" dirty="0" err="1">
                <a:solidFill>
                  <a:schemeClr val="tx2"/>
                </a:solidFill>
              </a:rPr>
              <a:t>상태값</a:t>
            </a:r>
            <a:r>
              <a:rPr lang="ko-KR" altLang="en-US" sz="1600" dirty="0">
                <a:solidFill>
                  <a:schemeClr val="tx2"/>
                </a:solidFill>
              </a:rPr>
              <a:t> 출력</a:t>
            </a:r>
            <a:endParaRPr lang="en-US" altLang="ko-KR" sz="1600" dirty="0">
              <a:solidFill>
                <a:schemeClr val="tx2"/>
              </a:solidFill>
            </a:endParaRPr>
          </a:p>
          <a:p>
            <a:pPr marL="0" indent="0">
              <a:buClr>
                <a:schemeClr val="tx2"/>
              </a:buClr>
              <a:buNone/>
            </a:pPr>
            <a:endParaRPr lang="ko-KR" altLang="en-US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맑은 고딕" pitchFamily="50" charset="-127"/>
              <a:buChar char="－"/>
            </a:pP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맑은 고딕" pitchFamily="50" charset="-127"/>
              <a:buChar char="－"/>
            </a:pPr>
            <a:endParaRPr lang="ko-KR" altLang="en-US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맑은 고딕" pitchFamily="50" charset="-127"/>
              <a:buChar char="－"/>
            </a:pPr>
            <a:endParaRPr lang="en-US" altLang="ko-KR" sz="1600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b="1" dirty="0">
              <a:solidFill>
                <a:schemeClr val="tx2"/>
              </a:solidFill>
            </a:endParaRPr>
          </a:p>
          <a:p>
            <a:pPr>
              <a:buClr>
                <a:schemeClr val="tx2"/>
              </a:buClr>
              <a:buNone/>
            </a:pPr>
            <a:endParaRPr lang="ko-KR" altLang="en-US" b="1" dirty="0">
              <a:solidFill>
                <a:schemeClr val="tx2"/>
              </a:solidFill>
            </a:endParaRPr>
          </a:p>
          <a:p>
            <a:pPr>
              <a:buBlip>
                <a:blip r:embed="rId2"/>
              </a:buBlip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관련 연구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0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11" name="_x76256848" descr="EMB000005d82b6c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384476" y="1544217"/>
            <a:ext cx="63750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Wingdings" pitchFamily="2" charset="2"/>
              <a:buChar char=""/>
            </a:pPr>
            <a:r>
              <a:rPr lang="en-US" altLang="ko-KR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CGI(Computer-generated imagery)</a:t>
            </a:r>
            <a:r>
              <a:rPr lang="ko-KR" altLang="en-US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에서 자주 사용되는 </a:t>
            </a:r>
            <a:r>
              <a:rPr lang="ko-KR" altLang="en-US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펄린</a:t>
            </a:r>
            <a:r>
              <a:rPr lang="ko-KR" altLang="en-US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노이즈 기법은 기존의 랜덤과 다르게 자연에서 텍스처의 조절된 무작위 모양을 모방함으로써 구름</a:t>
            </a:r>
            <a:r>
              <a:rPr lang="en-US" altLang="ko-KR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연기</a:t>
            </a:r>
            <a:r>
              <a:rPr lang="en-US" altLang="ko-KR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지형과 같은 시각 요소를 보다 자연스럽게 표현할 수 있도록 한다</a:t>
            </a:r>
            <a:r>
              <a:rPr lang="en-US" altLang="ko-KR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랜덤을 사용하면 날카로운 느낌이지만 </a:t>
            </a:r>
            <a:r>
              <a:rPr lang="ko-KR" altLang="en-US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펄린</a:t>
            </a:r>
            <a:r>
              <a:rPr lang="ko-KR" altLang="en-US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노이즈 기법을 사용한 두번째 그림은 첫번째 그림보다 부드러운 것을 볼 수 있다</a:t>
            </a:r>
            <a:r>
              <a:rPr lang="en-US" altLang="ko-KR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endParaRPr lang="ko-KR" altLang="en-US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9D265FB-3005-4A8A-B531-CB8255F60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55114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29ED170-8F33-4E63-9F12-3381568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_x223839944" descr="EMB000045247b48">
            <a:extLst>
              <a:ext uri="{FF2B5EF4-FFF2-40B4-BE49-F238E27FC236}">
                <a16:creationId xmlns:a16="http://schemas.microsoft.com/office/drawing/2014/main" id="{948CDD93-7168-4FFB-9997-4C978DE5A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3998913"/>
            <a:ext cx="2870200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0BA0F635-29D1-4E0E-9D0E-985FA48D5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71" name="_x223842584" descr="EMB000045247b4b">
            <a:extLst>
              <a:ext uri="{FF2B5EF4-FFF2-40B4-BE49-F238E27FC236}">
                <a16:creationId xmlns:a16="http://schemas.microsoft.com/office/drawing/2014/main" id="{A2E02C55-3FB8-4B48-85CF-EF229FBE6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768" y="3998913"/>
            <a:ext cx="2884488" cy="237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045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제목 2"/>
          <p:cNvSpPr>
            <a:spLocks noGrp="1"/>
          </p:cNvSpPr>
          <p:nvPr>
            <p:ph type="title"/>
          </p:nvPr>
        </p:nvSpPr>
        <p:spPr>
          <a:xfrm>
            <a:off x="457200" y="273050"/>
            <a:ext cx="7427168" cy="563662"/>
          </a:xfrm>
        </p:spPr>
        <p:txBody>
          <a:bodyPr/>
          <a:lstStyle/>
          <a:p>
            <a:pPr algn="ctr"/>
            <a:r>
              <a:rPr lang="ko-KR" altLang="en-US" sz="3200" dirty="0">
                <a:latin typeface="맑은 고딕" pitchFamily="50" charset="-127"/>
                <a:ea typeface="맑은 고딕" pitchFamily="50" charset="-127"/>
              </a:rPr>
              <a:t>구현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half" idx="2"/>
          </p:nvPr>
        </p:nvSpPr>
        <p:spPr>
          <a:xfrm>
            <a:off x="485847" y="1080693"/>
            <a:ext cx="8172306" cy="5184575"/>
          </a:xfrm>
        </p:spPr>
        <p:txBody>
          <a:bodyPr/>
          <a:lstStyle/>
          <a:p>
            <a:pPr marL="271463" indent="-271463">
              <a:buClr>
                <a:schemeClr val="bg2">
                  <a:lumMod val="10000"/>
                </a:schemeClr>
              </a:buClr>
              <a:buFont typeface="Wingdings"/>
              <a:buChar char="q"/>
              <a:defRPr/>
            </a:pP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Raindrop Class</a:t>
            </a:r>
            <a:b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</a:b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빗방울 생성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,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빗방울이 지형으로 떨어지도록 한다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중력과 가속도에 따라 빗방울이 늘어지는 것을 구현하였다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빗방울의 개수를 조절할 수 있고 지형에 빗방울이 닿으면 물이 </a:t>
            </a:r>
            <a:r>
              <a:rPr lang="ko-KR" altLang="en-US" sz="1300" b="1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차오르도록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 구현하였다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</a:t>
            </a:r>
          </a:p>
          <a:p>
            <a:pPr marL="271463" indent="-271463">
              <a:buClr>
                <a:schemeClr val="bg2">
                  <a:lumMod val="10000"/>
                </a:schemeClr>
              </a:buClr>
              <a:buFont typeface="Wingdings"/>
              <a:buChar char="q"/>
              <a:defRPr/>
            </a:pP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Cloud Class</a:t>
            </a:r>
            <a:b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</a:b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구름 생성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,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빗방울의 시작점이 되도록 한다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구름의 높낮이를 조절할 수 있도록 구현하였다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</a:t>
            </a:r>
          </a:p>
          <a:p>
            <a:pPr marL="271463" indent="-271463">
              <a:buClr>
                <a:schemeClr val="bg2">
                  <a:lumMod val="10000"/>
                </a:schemeClr>
              </a:buClr>
              <a:buFont typeface="Wingdings"/>
              <a:buChar char="q"/>
              <a:defRPr/>
            </a:pP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Timer Class</a:t>
            </a:r>
            <a:b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</a:b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강수량의 변화를 표현하기 위해 구현하였다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랜덤하게 강수량이 변하도록 하였고 사용자가 임의로 강수량을 조절하도록 켜고 끌 수 있도록 하였다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</a:t>
            </a:r>
          </a:p>
          <a:p>
            <a:pPr marL="271463" indent="-271463">
              <a:buClr>
                <a:schemeClr val="bg2">
                  <a:lumMod val="10000"/>
                </a:schemeClr>
              </a:buClr>
              <a:buFont typeface="Wingdings"/>
              <a:buChar char="q"/>
              <a:defRPr/>
            </a:pPr>
            <a:r>
              <a:rPr lang="en-US" altLang="ko-KR" sz="1300" b="1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DropReduce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 Class</a:t>
            </a:r>
            <a:b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</a:b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강수량 변화 시 점진적으로 변화하도록 한다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급격하게 강수량이 변하는 것을 방지한다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</a:t>
            </a:r>
          </a:p>
          <a:p>
            <a:pPr marL="271463" indent="-271463">
              <a:buClr>
                <a:schemeClr val="bg2">
                  <a:lumMod val="10000"/>
                </a:schemeClr>
              </a:buClr>
              <a:buFont typeface="Wingdings"/>
              <a:buChar char="q"/>
              <a:defRPr/>
            </a:pP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Sink Class</a:t>
            </a:r>
            <a:b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</a:b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배수량을 조절한다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 </a:t>
            </a:r>
            <a:r>
              <a:rPr lang="ko-KR" altLang="en-US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배수량에 따라 지형에서 물이 줄어드는 양을 사용자가 임의로 조절 할 수 있도록 구현하였다</a:t>
            </a:r>
            <a:r>
              <a:rPr lang="en-US" altLang="ko-KR" sz="1300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  <a:sym typeface="Wingdings"/>
              </a:rPr>
              <a:t>.</a:t>
            </a:r>
            <a:endParaRPr lang="ko-KR" altLang="en-US" sz="1300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  <a:sym typeface="Wingdings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10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11" name="_x76256848" descr="EMB000005d82b6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1EC249F-B2E3-482D-8D99-DC8994FCF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130654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B64EDB0-68A2-40DF-BFE2-45AAFF582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223839944" descr="EMB000045247b3b">
            <a:extLst>
              <a:ext uri="{FF2B5EF4-FFF2-40B4-BE49-F238E27FC236}">
                <a16:creationId xmlns:a16="http://schemas.microsoft.com/office/drawing/2014/main" id="{1089B1AA-3B82-433F-9D97-0428855FB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268" y="3950331"/>
            <a:ext cx="4177464" cy="241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8002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도난방지 시스템의 설계 및 구현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5835" y="1052736"/>
            <a:ext cx="8429684" cy="2273769"/>
          </a:xfrm>
        </p:spPr>
        <p:txBody>
          <a:bodyPr/>
          <a:lstStyle/>
          <a:p>
            <a:pPr marL="0" indent="0">
              <a:buClr>
                <a:schemeClr val="tx1"/>
              </a:buClr>
              <a:buNone/>
            </a:pPr>
            <a:endParaRPr lang="en-US" altLang="ko-KR" sz="1700" dirty="0"/>
          </a:p>
          <a:p>
            <a:pPr>
              <a:buClr>
                <a:schemeClr val="tx1"/>
              </a:buClr>
              <a:buFont typeface="Wingdings"/>
              <a:buChar char="q"/>
            </a:pPr>
            <a:endParaRPr lang="en-US" altLang="ko-KR" sz="1700" dirty="0"/>
          </a:p>
          <a:p>
            <a:pPr>
              <a:buClr>
                <a:schemeClr val="tx1"/>
              </a:buClr>
              <a:buFont typeface="Wingdings"/>
              <a:buChar char="q"/>
            </a:pPr>
            <a:endParaRPr lang="en-US" altLang="ko-KR" sz="1700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grpSp>
        <p:nvGrpSpPr>
          <p:cNvPr id="8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10" name="_x76256848" descr="EMB000005d82b6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47688" y="1423712"/>
            <a:ext cx="5032424" cy="2917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바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)Main</a:t>
            </a:r>
          </a:p>
          <a:p>
            <a:pPr marL="342900" lvl="1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Font typeface="Wingdings"/>
              <a:buChar char="q"/>
              <a:defRPr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그림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와 그림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프로그램을 결합하여 지형에 물이 고일 수 있도록 구현하였다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b="1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펄린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노이즈 기법으로 산악지형을 생성하고 각 클래스의 강수량과 배수량에 따라 물웅덩이를 생성한다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또한 사용자가 각 클래스의 </a:t>
            </a:r>
            <a:r>
              <a:rPr lang="ko-KR" altLang="en-US" b="1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변수값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 즉 강수량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배수량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빗방울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구름을 확인할 수 있도록 화면에 출력하고 </a:t>
            </a:r>
            <a:r>
              <a:rPr lang="en-US" altLang="ko-KR" b="1" dirty="0" err="1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KeyPress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에 이벤트에 따라 수정할 수 있도록 하였다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. 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최종적으로 그림 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4</a:t>
            </a: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와 같이 구현하였다</a:t>
            </a:r>
            <a:r>
              <a:rPr lang="en-US" altLang="ko-KR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</p:txBody>
      </p:sp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9CE6FB4-1C56-4501-A26E-B881FF792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7967" y="102484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223841064" descr="EMB000045247b40">
            <a:extLst>
              <a:ext uri="{FF2B5EF4-FFF2-40B4-BE49-F238E27FC236}">
                <a16:creationId xmlns:a16="http://schemas.microsoft.com/office/drawing/2014/main" id="{C56788DA-A4C2-4AB5-A3FA-D695FF755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434" y="3990193"/>
            <a:ext cx="2967038" cy="210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B840C73-5338-4D2A-B094-F04058309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7" name="_x223839624" descr="EMB000045247b43">
            <a:extLst>
              <a:ext uri="{FF2B5EF4-FFF2-40B4-BE49-F238E27FC236}">
                <a16:creationId xmlns:a16="http://schemas.microsoft.com/office/drawing/2014/main" id="{6BA10E07-035E-4A70-B690-30684B1EF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305" y="1170444"/>
            <a:ext cx="2884488" cy="2379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7850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향후 과제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67544" y="1124744"/>
            <a:ext cx="8429684" cy="5184576"/>
          </a:xfrm>
        </p:spPr>
        <p:txBody>
          <a:bodyPr/>
          <a:lstStyle/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800" b="1" dirty="0">
                <a:solidFill>
                  <a:schemeClr val="tx2"/>
                </a:solidFill>
              </a:rPr>
              <a:t>네이버 지도 등 </a:t>
            </a:r>
            <a:r>
              <a:rPr lang="en-US" altLang="ko-KR" sz="1800" b="1" dirty="0">
                <a:solidFill>
                  <a:schemeClr val="tx2"/>
                </a:solidFill>
              </a:rPr>
              <a:t>Web API</a:t>
            </a:r>
            <a:r>
              <a:rPr lang="ko-KR" altLang="en-US" sz="1800" b="1" dirty="0">
                <a:solidFill>
                  <a:schemeClr val="tx2"/>
                </a:solidFill>
              </a:rPr>
              <a:t>를 이용하여 실제 지형의 데이터로 사용할 수 있음</a:t>
            </a:r>
            <a:endParaRPr lang="en-US" altLang="ko-KR" sz="1800" b="1" dirty="0">
              <a:solidFill>
                <a:schemeClr val="tx2"/>
              </a:solidFill>
            </a:endParaRPr>
          </a:p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sz="1800" b="1" dirty="0">
              <a:solidFill>
                <a:schemeClr val="tx2"/>
              </a:solidFill>
            </a:endParaRPr>
          </a:p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800" b="1" dirty="0">
                <a:solidFill>
                  <a:schemeClr val="tx2"/>
                </a:solidFill>
              </a:rPr>
              <a:t>도심 지형에서 침수예상지역을 파악</a:t>
            </a:r>
            <a:endParaRPr lang="en-US" altLang="ko-KR" sz="1800" b="1" dirty="0">
              <a:solidFill>
                <a:schemeClr val="tx2"/>
              </a:solidFill>
            </a:endParaRPr>
          </a:p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sz="1800" b="1" dirty="0">
              <a:solidFill>
                <a:schemeClr val="tx2"/>
              </a:solidFill>
            </a:endParaRPr>
          </a:p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800" b="1" dirty="0">
                <a:solidFill>
                  <a:schemeClr val="tx2"/>
                </a:solidFill>
              </a:rPr>
              <a:t>전국지도에서 실시간으로 침수 예상지역을 표시</a:t>
            </a:r>
            <a:endParaRPr lang="en-US" altLang="ko-KR" sz="1800" b="1" dirty="0">
              <a:solidFill>
                <a:schemeClr val="tx2"/>
              </a:solidFill>
            </a:endParaRPr>
          </a:p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endParaRPr lang="en-US" altLang="ko-KR" sz="1800" b="1" dirty="0">
              <a:solidFill>
                <a:schemeClr val="tx2"/>
              </a:solidFill>
            </a:endParaRPr>
          </a:p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r>
              <a:rPr lang="ko-KR" altLang="en-US" sz="1800" b="1" dirty="0">
                <a:solidFill>
                  <a:schemeClr val="tx2"/>
                </a:solidFill>
              </a:rPr>
              <a:t>침수에 취약한 물가에 있는 다리와 같은 시설의 적절한 높이를 제시하고 권장할 수 있도록 함</a:t>
            </a:r>
            <a:endParaRPr lang="en-US" altLang="ko-KR" sz="1800" b="1" dirty="0">
              <a:solidFill>
                <a:schemeClr val="tx2"/>
              </a:solidFill>
            </a:endParaRPr>
          </a:p>
          <a:p>
            <a:pPr latinLnBrk="0">
              <a:spcBef>
                <a:spcPct val="0"/>
              </a:spcBef>
              <a:buClr>
                <a:schemeClr val="tx2"/>
              </a:buClr>
              <a:buFont typeface="Wingdings" pitchFamily="2" charset="2"/>
              <a:buChar char=""/>
            </a:pPr>
            <a:endParaRPr lang="ko-KR" altLang="en-US" sz="1800" dirty="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9" name="_x76256848" descr="EMB000005d82b6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36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467544" y="1124744"/>
            <a:ext cx="849694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2"/>
              </a:buClr>
            </a:pP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buClr>
                <a:schemeClr val="tx2"/>
              </a:buClr>
              <a:buFont typeface="Wingdings"/>
              <a:buChar char="q"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가상의 산간지방을 생성하여 침수예상지역을 표시</a:t>
            </a: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>
              <a:buClr>
                <a:schemeClr val="tx2"/>
              </a:buClr>
            </a:pP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buClr>
                <a:schemeClr val="tx2"/>
              </a:buClr>
              <a:buFont typeface="Wingdings"/>
              <a:buChar char="q"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각 기상상태 중 강수에 대해서만 다룸</a:t>
            </a: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buClr>
                <a:schemeClr val="tx2"/>
              </a:buClr>
              <a:buFont typeface="Wingdings"/>
              <a:buChar char="q"/>
            </a:pP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buClr>
                <a:schemeClr val="tx2"/>
              </a:buClr>
              <a:buFont typeface="Wingdings"/>
              <a:buChar char="q"/>
            </a:pPr>
            <a:r>
              <a:rPr lang="ko-KR" altLang="en-US" b="1" dirty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각각의 기상상태를 추가하여 활용도를 높일 수 있을 것</a:t>
            </a: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>
              <a:buClr>
                <a:schemeClr val="tx2"/>
              </a:buClr>
              <a:buFont typeface="Wingdings"/>
              <a:buChar char="q"/>
            </a:pPr>
            <a:endParaRPr lang="en-US" altLang="ko-KR" b="1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CDA00BD-A580-4DDF-90C5-B8466B807C9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8" name="그룹 10"/>
          <p:cNvGrpSpPr>
            <a:grpSpLocks/>
          </p:cNvGrpSpPr>
          <p:nvPr/>
        </p:nvGrpSpPr>
        <p:grpSpPr bwMode="auto">
          <a:xfrm>
            <a:off x="7885111" y="6453200"/>
            <a:ext cx="1079377" cy="288168"/>
            <a:chOff x="7308304" y="6381328"/>
            <a:chExt cx="1548903" cy="277664"/>
          </a:xfrm>
        </p:grpSpPr>
        <p:pic>
          <p:nvPicPr>
            <p:cNvPr id="9" name="_x76256848" descr="EMB000005d82b6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308304" y="6381328"/>
              <a:ext cx="539552" cy="275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" name="Picture 1095" descr="시그니쳐(좌우조합)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884368" y="6381328"/>
              <a:ext cx="972839" cy="277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바닥글 개체 틀 3"/>
          <p:cNvSpPr txBox="1">
            <a:spLocks/>
          </p:cNvSpPr>
          <p:nvPr/>
        </p:nvSpPr>
        <p:spPr bwMode="auto">
          <a:xfrm>
            <a:off x="468313" y="6473080"/>
            <a:ext cx="196215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US" altLang="ko-KR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KMMS 2018 </a:t>
            </a:r>
            <a:r>
              <a:rPr lang="ko-KR" altLang="en-US" sz="1000" dirty="0">
                <a:solidFill>
                  <a:srgbClr val="23387D"/>
                </a:solidFill>
                <a:latin typeface="맑은 고딕" pitchFamily="50" charset="-127"/>
                <a:ea typeface="맑은 고딕" pitchFamily="50" charset="-127"/>
              </a:rPr>
              <a:t>추계학술대회</a:t>
            </a:r>
            <a:endParaRPr lang="en-US" altLang="ko-KR" sz="1000" dirty="0">
              <a:solidFill>
                <a:srgbClr val="23387D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2313802"/>
      </p:ext>
    </p:extLst>
  </p:cSld>
  <p:clrMapOvr>
    <a:masterClrMapping/>
  </p:clrMapOvr>
</p:sld>
</file>

<file path=ppt/theme/theme1.xml><?xml version="1.0" encoding="utf-8"?>
<a:theme xmlns:a="http://schemas.openxmlformats.org/drawingml/2006/main" name="134TGp_report_diagra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134TGp_report_diagram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34TGp_report_diagram 1">
        <a:dk1>
          <a:srgbClr val="1D4940"/>
        </a:dk1>
        <a:lt1>
          <a:srgbClr val="FFFFFF"/>
        </a:lt1>
        <a:dk2>
          <a:srgbClr val="3F716F"/>
        </a:dk2>
        <a:lt2>
          <a:srgbClr val="DDDDDD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4TGp_report_diagram 2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4972BB"/>
        </a:accent1>
        <a:accent2>
          <a:srgbClr val="6A99D8"/>
        </a:accent2>
        <a:accent3>
          <a:srgbClr val="FFFFFF"/>
        </a:accent3>
        <a:accent4>
          <a:srgbClr val="1C2E6A"/>
        </a:accent4>
        <a:accent5>
          <a:srgbClr val="B1BCDA"/>
        </a:accent5>
        <a:accent6>
          <a:srgbClr val="5F8AC4"/>
        </a:accent6>
        <a:hlink>
          <a:srgbClr val="96B1E6"/>
        </a:hlink>
        <a:folHlink>
          <a:srgbClr val="99C25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34TGp_report_diagram 3">
        <a:dk1>
          <a:srgbClr val="23387D"/>
        </a:dk1>
        <a:lt1>
          <a:srgbClr val="FFFFFF"/>
        </a:lt1>
        <a:dk2>
          <a:srgbClr val="1A3D97"/>
        </a:dk2>
        <a:lt2>
          <a:srgbClr val="DDDDDD"/>
        </a:lt2>
        <a:accent1>
          <a:srgbClr val="6E51A7"/>
        </a:accent1>
        <a:accent2>
          <a:srgbClr val="8C8EE0"/>
        </a:accent2>
        <a:accent3>
          <a:srgbClr val="FFFFFF"/>
        </a:accent3>
        <a:accent4>
          <a:srgbClr val="1C2E6A"/>
        </a:accent4>
        <a:accent5>
          <a:srgbClr val="BAB3D0"/>
        </a:accent5>
        <a:accent6>
          <a:srgbClr val="7E80CB"/>
        </a:accent6>
        <a:hlink>
          <a:srgbClr val="96B1E6"/>
        </a:hlink>
        <a:folHlink>
          <a:srgbClr val="7BB32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4344</TotalTime>
  <Words>335</Words>
  <Application>Microsoft Office PowerPoint</Application>
  <PresentationFormat>화면 슬라이드 쇼(4:3)</PresentationFormat>
  <Paragraphs>79</Paragraphs>
  <Slides>9</Slides>
  <Notes>4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굴림</vt:lpstr>
      <vt:lpstr>맑은 고딕</vt:lpstr>
      <vt:lpstr>Arial</vt:lpstr>
      <vt:lpstr>Verdana</vt:lpstr>
      <vt:lpstr>Wingdings</vt:lpstr>
      <vt:lpstr>134TGp_report_diagram</vt:lpstr>
      <vt:lpstr>Image</vt:lpstr>
      <vt:lpstr> 산간지방 침수지역 시뮬레이션 </vt:lpstr>
      <vt:lpstr>서론</vt:lpstr>
      <vt:lpstr>산간지방 침수지역 시뮬레이션</vt:lpstr>
      <vt:lpstr>산간지방 침수지역 시뮬레이션의 주요 기능</vt:lpstr>
      <vt:lpstr>관련 연구</vt:lpstr>
      <vt:lpstr>구현</vt:lpstr>
      <vt:lpstr>도난방지 시스템의 설계 및 구현(2/2)</vt:lpstr>
      <vt:lpstr>향후 과제</vt:lpstr>
      <vt:lpstr>결론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lim</dc:creator>
  <cp:lastModifiedBy> </cp:lastModifiedBy>
  <cp:revision>242</cp:revision>
  <cp:lastPrinted>2018-11-13T02:53:08Z</cp:lastPrinted>
  <dcterms:created xsi:type="dcterms:W3CDTF">2014-10-07T08:10:27Z</dcterms:created>
  <dcterms:modified xsi:type="dcterms:W3CDTF">2019-04-08T01:35:08Z</dcterms:modified>
</cp:coreProperties>
</file>